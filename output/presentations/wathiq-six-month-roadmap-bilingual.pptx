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bc41abc223f4b62" /><Relationship Type="http://schemas.openxmlformats.org/officeDocument/2006/relationships/extended-properties" Target="/docProps/app.xml" Id="R0d065595411040e5" /><Relationship Type="http://schemas.openxmlformats.org/officeDocument/2006/relationships/officeDocument" Target="/ppt/presentation.xml" Id="R9addd8eda12c494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c3662086b194c81"/>
  </p:sldMasterIdLst>
  <p:notesMasterIdLst>
    <p:notesMasterId xmlns:r="http://schemas.openxmlformats.org/officeDocument/2006/relationships" r:id="R838ac68662d247f1"/>
  </p:notesMasterIdLst>
  <p:sldIdLst>
    <p:sldId xmlns:r="http://schemas.openxmlformats.org/officeDocument/2006/relationships" id="256" r:id="R87b095a017454d23"/>
    <p:sldId xmlns:r="http://schemas.openxmlformats.org/officeDocument/2006/relationships" id="257" r:id="Re4f32aff056f4e94"/>
  </p:sldIdLst>
  <p:sldSz cx="11430000" cy="64293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90c463926fb45c4" /><Relationship Type="http://schemas.openxmlformats.org/officeDocument/2006/relationships/slideMaster" Target="/ppt/slideMasters/slideMaster1.xml" Id="R3c3662086b194c81" /><Relationship Type="http://schemas.openxmlformats.org/officeDocument/2006/relationships/notesMaster" Target="/ppt/notesMasters/notesMaster1.xml" Id="R838ac68662d247f1" /><Relationship Type="http://schemas.openxmlformats.org/officeDocument/2006/relationships/presProps" Target="/ppt/presProps.xml" Id="R74b0a6dac4fb4408" /><Relationship Type="http://schemas.openxmlformats.org/officeDocument/2006/relationships/tableStyles" Target="/ppt/tableStyles.xml" Id="R2af1ff87d1b04c30" /><Relationship Type="http://schemas.openxmlformats.org/officeDocument/2006/relationships/slide" Target="/ppt/slides/slide1.xml" Id="R87b095a017454d23" /><Relationship Type="http://schemas.openxmlformats.org/officeDocument/2006/relationships/slide" Target="/ppt/slides/slide2.xml" Id="Re4f32aff056f4e9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145fef7187c4f0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5e11c940f7649f7" /><Relationship Type="http://schemas.openxmlformats.org/officeDocument/2006/relationships/notesMaster" Target="/ppt/notesMasters/notesMaster1.xml" Id="Ree8f3db1e9724cf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eb359a9f0214783" /><Relationship Type="http://schemas.openxmlformats.org/officeDocument/2006/relationships/notesMaster" Target="/ppt/notesMasters/notesMaster1.xml" Id="Rf80d5424e8ae47a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110261429f41b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2f73fd018c462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cee0b0e0454dc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3bd05afde7488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ecf1fbc1da4c3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deb1698fe7407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CDB6364-0FA5-4C5E-A2CC-1033B04E65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43000" y="2428875"/>
            <a:ext cx="9144000" cy="9286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5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64918D3-FC55-4D77-9015-933C9C80A7C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714500" y="3536156"/>
            <a:ext cx="8001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AA29922-EF4E-4EA5-B9CA-16F0EAA9AF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43000" y="2678906"/>
            <a:ext cx="9144000" cy="1071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93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D152CCE-CF1F-451E-AA4D-826DBBF28C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2938" y="500063"/>
            <a:ext cx="10144125" cy="785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0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BA80305-4FD2-46F3-984E-51543B1A3E1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42938" y="1785938"/>
            <a:ext cx="10144125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143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1pPr>
            <a:lvl2pPr marL="5000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2pPr>
            <a:lvl3pPr marL="7858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3pPr>
            <a:lvl4pPr marL="10715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4pPr>
            <a:lvl5pPr marL="13573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5pPr>
            <a:lvl6pPr marL="16430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6pPr>
            <a:lvl7pPr marL="19288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7pPr>
            <a:lvl8pPr marL="22145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8pPr>
            <a:lvl9pPr marL="25003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282A63E-1743-4E1D-95EF-143A12938DE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2938" y="500063"/>
            <a:ext cx="10144125" cy="785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0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6E12E44-EF70-4B8F-87B7-826FA46430B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42938" y="1785938"/>
            <a:ext cx="4714875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143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1pPr>
            <a:lvl2pPr marL="5000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2pPr>
            <a:lvl3pPr marL="7858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3pPr>
            <a:lvl4pPr marL="10715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4pPr>
            <a:lvl5pPr marL="13573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5pPr>
            <a:lvl6pPr marL="16430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6pPr>
            <a:lvl7pPr marL="19288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7pPr>
            <a:lvl8pPr marL="22145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8pPr>
            <a:lvl9pPr marL="25003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5E64351-6847-4A90-AB5F-88BD97D5117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72188" y="1785938"/>
            <a:ext cx="4714875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143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1pPr>
            <a:lvl2pPr marL="5000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2pPr>
            <a:lvl3pPr marL="7858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3pPr>
            <a:lvl4pPr marL="10715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4pPr>
            <a:lvl5pPr marL="13573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5pPr>
            <a:lvl6pPr marL="16430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6pPr>
            <a:lvl7pPr marL="19288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7pPr>
            <a:lvl8pPr marL="22145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8pPr>
            <a:lvl9pPr marL="25003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4DAB4EF-9D67-4D2C-B836-F0E030421F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2938" y="500063"/>
            <a:ext cx="10144125" cy="785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0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4D18B08-5FDA-46DE-A19D-2F914DC4A3E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42938" y="1785938"/>
            <a:ext cx="4714875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143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1pPr>
            <a:lvl2pPr marL="5000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2pPr>
            <a:lvl3pPr marL="7858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3pPr>
            <a:lvl4pPr marL="10715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4pPr>
            <a:lvl5pPr marL="13573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5pPr>
            <a:lvl6pPr marL="16430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6pPr>
            <a:lvl7pPr marL="19288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7pPr>
            <a:lvl8pPr marL="22145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8pPr>
            <a:lvl9pPr marL="25003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b3d8e9b428d4190" /><Relationship Type="http://schemas.openxmlformats.org/officeDocument/2006/relationships/slideLayout" Target="/ppt/slideLayouts/slideLayout1.xml" Id="R1e300866eefa49bf" /><Relationship Type="http://schemas.openxmlformats.org/officeDocument/2006/relationships/slideLayout" Target="/ppt/slideLayouts/slideLayout2.xml" Id="Rd4e967f4d4dc4afd" /><Relationship Type="http://schemas.openxmlformats.org/officeDocument/2006/relationships/slideLayout" Target="/ppt/slideLayouts/slideLayout3.xml" Id="R60fe8cae5b724c2f" /><Relationship Type="http://schemas.openxmlformats.org/officeDocument/2006/relationships/slideLayout" Target="/ppt/slideLayouts/slideLayout4.xml" Id="R72bebc9351ec4307" /><Relationship Type="http://schemas.openxmlformats.org/officeDocument/2006/relationships/slideLayout" Target="/ppt/slideLayouts/slideLayout5.xml" Id="Rea3617738ce748a9" /><Relationship Type="http://schemas.openxmlformats.org/officeDocument/2006/relationships/slideLayout" Target="/ppt/slideLayouts/slideLayout6.xml" Id="Rb8744071b7be470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e300866eefa49bf"/>
    <p:sldLayoutId xmlns:r="http://schemas.openxmlformats.org/officeDocument/2006/relationships" id="2147483650" r:id="Rd4e967f4d4dc4afd"/>
    <p:sldLayoutId xmlns:r="http://schemas.openxmlformats.org/officeDocument/2006/relationships" id="2147483651" r:id="R60fe8cae5b724c2f"/>
    <p:sldLayoutId xmlns:r="http://schemas.openxmlformats.org/officeDocument/2006/relationships" id="2147483652" r:id="R72bebc9351ec4307"/>
    <p:sldLayoutId xmlns:r="http://schemas.openxmlformats.org/officeDocument/2006/relationships" id="2147483653" r:id="Rea3617738ce748a9"/>
    <p:sldLayoutId xmlns:r="http://schemas.openxmlformats.org/officeDocument/2006/relationships" id="2147483654" r:id="Rb8744071b7be470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7a39c125324eba" /><Relationship Type="http://schemas.openxmlformats.org/officeDocument/2006/relationships/image" Target="/ppt/media/image.png" Id="R1a8da6c7b2e844bc" /><Relationship Type="http://schemas.openxmlformats.org/officeDocument/2006/relationships/notesSlide" Target="/ppt/notesSlides/notesSlide1.xml" Id="Rdfe2f95dc98f4a1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c1e1a7cfd4442e" /><Relationship Type="http://schemas.openxmlformats.org/officeDocument/2006/relationships/image" Target="/ppt/media/image2.png" Id="Ra702eac7991a486b" /><Relationship Type="http://schemas.openxmlformats.org/officeDocument/2006/relationships/notesSlide" Target="/ppt/notesSlides/notesSlide2.xml" Id="R10fc81cece92439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1494E52-E196-45AB-B2E7-57CE01139C7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8da6c7b2e844bc"/>
          <a:stretch xmlns:a="http://schemas.openxmlformats.org/drawingml/2006/main"/>
        </p:blipFill>
        <p:spPr>
          <a:xfrm xmlns:a="http://schemas.openxmlformats.org/drawingml/2006/main">
            <a:off x="0" y="0"/>
            <a:ext cx="11430000" cy="642937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94A657-6631-458A-B704-FE56DD53A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815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230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2304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304B"/>
                </a:solidFill>
                <a:latin typeface="Arial"/>
                <a:ea typeface="Arial"/>
                <a:cs typeface="Arial"/>
              </a:rPr>
              <a:t>WATHIQ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29E587-0230-491F-98CB-772BD44A4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90575"/>
            <a:ext cx="904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230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2304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304B"/>
                </a:solidFill>
                <a:latin typeface="Arial"/>
                <a:ea typeface="Arial"/>
                <a:cs typeface="Arial"/>
              </a:rPr>
              <a:t>Six-month roadmap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28B6F0-F780-4F98-B6F9-43578CDA6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1228725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Monthly phases and planned activities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AB5749-863B-4B5C-9E6A-93116B52D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457200"/>
            <a:ext cx="1323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1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779"/>
                </a:solidFill>
                <a:latin typeface="Arial"/>
                <a:ea typeface="Arial"/>
                <a:cs typeface="Arial"/>
              </a:rPr>
              <a:t>M1  -  M6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DFC5B5-7988-4B31-AB67-CF5D5DC6D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864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75" b="1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675" b="1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526779"/>
                </a:solidFill>
                <a:latin typeface="Arial"/>
                <a:ea typeface="Arial"/>
                <a:cs typeface="Arial"/>
              </a:rPr>
              <a:t>PLANNING HORIZON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CA616F-32D5-4D5B-9D36-A3313282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8642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M1-M6 represent consecutive project months.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46C6AC-BFAD-4631-BD78-3F94D99B8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657850"/>
            <a:ext cx="781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25" b="1">
                <a:solidFill>
                  <a:srgbClr val="1230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12304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2304B"/>
                </a:solidFill>
                <a:latin typeface="Arial"/>
                <a:ea typeface="Arial"/>
                <a:cs typeface="Arial"/>
              </a:rPr>
              <a:t>WATHIQ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D9C962-D094-4C3D-84E0-96E12854A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189547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954738-EE52-4A91-A72E-679196B98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1314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230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2304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304B"/>
                </a:solidFill>
                <a:latin typeface="Arial"/>
                <a:ea typeface="Arial"/>
                <a:cs typeface="Arial"/>
              </a:rPr>
              <a:t>Destruction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419E57-2A07-4803-AEBE-638F5A255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743325"/>
            <a:ext cx="12096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Design and</a:t>
            </a:r>
          </a:p>
          <a:p xmlns:a="http://schemas.openxmlformats.org/drawingml/2006/main">
            <a:pPr algn="l">
              <a:defRPr sz="9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specifications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372C55-6591-4B56-B29D-CDC05E46C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181475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Implementation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058E4F-6367-48BC-9DEA-09F0581BF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457700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Unit testing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49B3C0-3BC8-43E3-9D68-73BF8551B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733925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User testing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A738C5-3AB4-40D8-A68A-1C4E35493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89547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F7572E-AE2D-4F68-BC57-4ECB274D3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3124200"/>
            <a:ext cx="1314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230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2304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304B"/>
                </a:solidFill>
                <a:latin typeface="Arial"/>
                <a:ea typeface="Arial"/>
                <a:cs typeface="Arial"/>
              </a:rPr>
              <a:t>Transfer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B4323B-936A-4BAB-93E9-9CA5E21D8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743325"/>
            <a:ext cx="12096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Design and</a:t>
            </a:r>
          </a:p>
          <a:p xmlns:a="http://schemas.openxmlformats.org/drawingml/2006/main">
            <a:pPr algn="l">
              <a:defRPr sz="9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specifications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0610EE-763B-410E-8612-621CB06AF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181475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Implementation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D0D659-7354-4595-A564-4EFF09981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457700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Unit testing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80FA38-B9AA-4D03-AEE3-FABAD28BC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733925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User testing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3D1571-F162-4EE5-AF11-1B2E5F435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189547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30845A-8D71-4A70-9387-9CF3BDD54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124200"/>
            <a:ext cx="1314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230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2304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304B"/>
                </a:solidFill>
                <a:latin typeface="Arial"/>
                <a:ea typeface="Arial"/>
                <a:cs typeface="Arial"/>
              </a:rPr>
              <a:t>Selective transfer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52B49A-9635-41D5-9DD6-D62A30AB9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743325"/>
            <a:ext cx="12096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Design and</a:t>
            </a:r>
          </a:p>
          <a:p xmlns:a="http://schemas.openxmlformats.org/drawingml/2006/main">
            <a:pPr algn="l">
              <a:defRPr sz="9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specifications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9A7C03-783E-4470-914D-0B8E64D9D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181475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Implementation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C1E10D-A110-48A4-9DAA-38DBBA392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457700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Unit testing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7EDB94-AC16-4E84-8915-AC252297E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733925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User testing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E0395E-DCC8-4C7B-8DC8-61CCF6749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89547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E1A1644-A9E8-49D5-A54A-2FD48220F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124200"/>
            <a:ext cx="1314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230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2304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304B"/>
                </a:solidFill>
                <a:latin typeface="Arial"/>
                <a:ea typeface="Arial"/>
                <a:cs typeface="Arial"/>
              </a:rPr>
              <a:t>Testing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FD62DAB-EE14-4B7E-BBB5-2E123854A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743325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System testing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677E86-EF26-452D-B65C-7ED734B34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019550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Focus group testing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E08A59D-BED4-48D5-81A6-6C613D9D7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295775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Load testing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0FE8DCB-C470-487D-B3D3-2494D412C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572000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Volume testing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7244188-F61F-418C-ABD3-B7BD548E3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189547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3C3DF4F-EA83-49FE-A5C5-79C839E28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124200"/>
            <a:ext cx="1314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230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2304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304B"/>
                </a:solidFill>
                <a:latin typeface="Arial"/>
                <a:ea typeface="Arial"/>
                <a:cs typeface="Arial"/>
              </a:rPr>
              <a:t>Enhancement and</a:t>
            </a:r>
          </a:p>
          <a:p xmlns:a="http://schemas.openxmlformats.org/drawingml/2006/main">
            <a:pPr algn="l">
              <a:defRPr sz="1200" b="1">
                <a:solidFill>
                  <a:srgbClr val="12304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304B"/>
                </a:solidFill>
                <a:latin typeface="Arial"/>
                <a:ea typeface="Arial"/>
                <a:cs typeface="Arial"/>
              </a:rPr>
              <a:t>issue resolution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60FB60C-D873-4969-A08A-A985AB4C1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743325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UI enhancements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88ADDE5-6978-4231-BD66-7C34D2CFD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019550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Change requests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C49D0E6-8F7C-413E-B72E-8C2C2D8ED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295775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Bug fixing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E95B918-EADB-418E-B048-CFAC6AC9C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89547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M6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8BFA291-6D84-431F-B27C-DA836BD59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3124200"/>
            <a:ext cx="1314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230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2304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304B"/>
                </a:solidFill>
                <a:latin typeface="Arial"/>
                <a:ea typeface="Arial"/>
                <a:cs typeface="Arial"/>
              </a:rPr>
              <a:t>Documentation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91FECCE-CC44-43FA-A870-F18F9071A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743325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User manual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F6B154C-27B0-409F-B203-6D949EF71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19550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Admin manuals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B47A792-B4DF-46EF-9988-FEBA309AC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295775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System documentation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7AD2C39-2CFF-4742-A125-D64F9AD13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572000"/>
            <a:ext cx="12096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Operations</a:t>
            </a:r>
          </a:p>
          <a:p xmlns:a="http://schemas.openxmlformats.org/drawingml/2006/main">
            <a:pPr algn="l">
              <a:defRPr sz="9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documentation</a:t>
            </a:r>
          </a:p>
        </p:txBody>
      </p:sp>
    </p:spTree>
    <p:extLst>
      <p:ext uri="{BB962C8B-B14F-4D97-AF65-F5344CB8AC3E}">
        <p14:creationId xmlns:p14="http://schemas.microsoft.com/office/powerpoint/2010/main" val="42697333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D314F63-BAF7-417B-BFC3-7BB80C60AC4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02eac7991a486b"/>
          <a:stretch xmlns:a="http://schemas.openxmlformats.org/drawingml/2006/main"/>
        </p:blipFill>
        <p:spPr>
          <a:xfrm xmlns:a="http://schemas.openxmlformats.org/drawingml/2006/main">
            <a:off x="0" y="0"/>
            <a:ext cx="11430000" cy="642937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E3F27F-B1CA-4094-A23E-BE779B318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09575"/>
            <a:ext cx="3810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1">
                <a:solidFill>
                  <a:srgbClr val="1230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defRPr sz="1800" b="1">
                <a:solidFill>
                  <a:srgbClr val="12304B"/>
                </a:solidFill>
                <a:latin typeface="Arial"/>
                <a:ea typeface="Arial"/>
                <a:cs typeface="Arial"/>
              </a:defRPr>
            </a:pPr>
            <a:r>
              <a:rPr sz="1800" b="1" lang="ar-SA">
                <a:solidFill>
                  <a:srgbClr val="12304B"/>
                </a:solidFill>
                <a:latin typeface="Arial"/>
                <a:ea typeface="Arial"/>
                <a:cs typeface="Arial"/>
              </a:rPr>
              <a:t>وثيق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2A056D-A3E0-4C90-B60A-F9F8B30E1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752475"/>
            <a:ext cx="904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550" b="1">
                <a:solidFill>
                  <a:srgbClr val="1230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defRPr sz="2550" b="1">
                <a:solidFill>
                  <a:srgbClr val="12304B"/>
                </a:solidFill>
                <a:latin typeface="Arial"/>
                <a:ea typeface="Arial"/>
                <a:cs typeface="Arial"/>
              </a:defRPr>
            </a:pPr>
            <a:r>
              <a:rPr sz="2550" b="1" lang="ar-SA">
                <a:solidFill>
                  <a:srgbClr val="12304B"/>
                </a:solidFill>
                <a:latin typeface="Arial"/>
                <a:ea typeface="Arial"/>
                <a:cs typeface="Arial"/>
              </a:rPr>
              <a:t>خارطة الطريق لستة أشهر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D0CCB0-52AB-4958-AABF-6A1A162B8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1219200"/>
            <a:ext cx="904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200" b="0" lang="ar-SA">
                <a:solidFill>
                  <a:srgbClr val="526779"/>
                </a:solidFill>
                <a:latin typeface="Arial"/>
                <a:ea typeface="Arial"/>
                <a:cs typeface="Arial"/>
              </a:rPr>
              <a:t>المراحل الشهرية والأنشطة المخططة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40E7B3-F009-4DDB-A8D1-3BB1E257B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1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defRPr sz="975" b="1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975" b="1" lang="ar-SA">
                <a:solidFill>
                  <a:srgbClr val="526779"/>
                </a:solidFill>
                <a:latin typeface="Arial"/>
                <a:ea typeface="Arial"/>
                <a:cs typeface="Arial"/>
              </a:rPr>
              <a:t>خطة من ستة أشهر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8106CF-60BF-484F-8679-EFAD77554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4768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825" b="1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defRPr sz="825" b="1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825" b="1" lang="ar-SA">
                <a:solidFill>
                  <a:srgbClr val="526779"/>
                </a:solidFill>
                <a:latin typeface="Arial"/>
                <a:ea typeface="Arial"/>
                <a:cs typeface="Arial"/>
              </a:rPr>
              <a:t>الإطار الزمني للخطة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DA9007-833B-4C8E-85D7-7F2A1AA6E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686425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defRPr sz="9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900" b="0" lang="ar-SA">
                <a:solidFill>
                  <a:srgbClr val="526779"/>
                </a:solidFill>
                <a:latin typeface="Arial"/>
                <a:ea typeface="Arial"/>
                <a:cs typeface="Arial"/>
              </a:rPr>
              <a:t>تمثل الأشهر من الأول إلى السادس أشهر المشروع المتتالية.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3B7A85-9C8D-4212-8A33-F7C4282CC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10225"/>
            <a:ext cx="5429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1">
                <a:solidFill>
                  <a:srgbClr val="1230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defRPr sz="1200" b="1">
                <a:solidFill>
                  <a:srgbClr val="12304B"/>
                </a:solidFill>
                <a:latin typeface="Arial"/>
                <a:ea typeface="Arial"/>
                <a:cs typeface="Arial"/>
              </a:defRPr>
            </a:pPr>
            <a:r>
              <a:rPr sz="1200" b="1" lang="ar-SA">
                <a:solidFill>
                  <a:srgbClr val="12304B"/>
                </a:solidFill>
                <a:latin typeface="Arial"/>
                <a:ea typeface="Arial"/>
                <a:cs typeface="Arial"/>
              </a:rPr>
              <a:t>وثيق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D51372-313F-47E2-B358-22ABD97CD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89547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 rtl="1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الشهر 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1F2D79-5C6B-4709-884E-33B24075A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3124200"/>
            <a:ext cx="1314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1">
                <a:solidFill>
                  <a:srgbClr val="1230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defRPr sz="1350" b="1">
                <a:solidFill>
                  <a:srgbClr val="12304B"/>
                </a:solidFill>
                <a:latin typeface="Arial"/>
                <a:ea typeface="Arial"/>
                <a:cs typeface="Arial"/>
              </a:defRPr>
            </a:pPr>
            <a:r>
              <a:rPr sz="1350" b="1" lang="ar-SA">
                <a:solidFill>
                  <a:srgbClr val="12304B"/>
                </a:solidFill>
                <a:latin typeface="Arial"/>
                <a:ea typeface="Arial"/>
                <a:cs typeface="Arial"/>
              </a:rPr>
              <a:t>الإتلاف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8B8916-C047-40E6-AEFC-72B2E6F83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781425"/>
            <a:ext cx="1200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defRPr sz="10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050" b="0" lang="ar-SA">
                <a:solidFill>
                  <a:srgbClr val="526779"/>
                </a:solidFill>
                <a:latin typeface="Arial"/>
                <a:ea typeface="Arial"/>
                <a:cs typeface="Arial"/>
              </a:rPr>
              <a:t>التصميم والمواصفات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A6A0DD-5CF7-47D6-8F3D-D72B1212D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076700"/>
            <a:ext cx="1200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defRPr sz="10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050" b="0" lang="ar-SA">
                <a:solidFill>
                  <a:srgbClr val="526779"/>
                </a:solidFill>
                <a:latin typeface="Arial"/>
                <a:ea typeface="Arial"/>
                <a:cs typeface="Arial"/>
              </a:rPr>
              <a:t>التنفيذ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E90A10-95D2-47F9-A4A1-93EFEA097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371975"/>
            <a:ext cx="1200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defRPr sz="10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050" b="0" lang="ar-SA">
                <a:solidFill>
                  <a:srgbClr val="526779"/>
                </a:solidFill>
                <a:latin typeface="Arial"/>
                <a:ea typeface="Arial"/>
                <a:cs typeface="Arial"/>
              </a:rPr>
              <a:t>اختبار الوحدات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567249-682B-4D41-9D4D-EC942123D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667250"/>
            <a:ext cx="1200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defRPr sz="10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050" b="0" lang="ar-SA">
                <a:solidFill>
                  <a:srgbClr val="526779"/>
                </a:solidFill>
                <a:latin typeface="Arial"/>
                <a:ea typeface="Arial"/>
                <a:cs typeface="Arial"/>
              </a:rPr>
              <a:t>اختبار المستخدمين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282885-EE41-4320-860A-DF3BEFE67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189547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 rtl="1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الشهر 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E82706-1CAE-4AA9-87D1-EF2E94EC8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124200"/>
            <a:ext cx="1314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1">
                <a:solidFill>
                  <a:srgbClr val="1230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defRPr sz="1350" b="1">
                <a:solidFill>
                  <a:srgbClr val="12304B"/>
                </a:solidFill>
                <a:latin typeface="Arial"/>
                <a:ea typeface="Arial"/>
                <a:cs typeface="Arial"/>
              </a:defRPr>
            </a:pPr>
            <a:r>
              <a:rPr sz="1350" b="1" lang="ar-SA">
                <a:solidFill>
                  <a:srgbClr val="12304B"/>
                </a:solidFill>
                <a:latin typeface="Arial"/>
                <a:ea typeface="Arial"/>
                <a:cs typeface="Arial"/>
              </a:rPr>
              <a:t>النقل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14B2CA-6DD5-4FD1-9953-BE8A2E668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3781425"/>
            <a:ext cx="1200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defRPr sz="10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050" b="0" lang="ar-SA">
                <a:solidFill>
                  <a:srgbClr val="526779"/>
                </a:solidFill>
                <a:latin typeface="Arial"/>
                <a:ea typeface="Arial"/>
                <a:cs typeface="Arial"/>
              </a:rPr>
              <a:t>التصميم والمواصفات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261187-28EE-464C-B5DA-9FC4886B7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4076700"/>
            <a:ext cx="1200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defRPr sz="10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050" b="0" lang="ar-SA">
                <a:solidFill>
                  <a:srgbClr val="526779"/>
                </a:solidFill>
                <a:latin typeface="Arial"/>
                <a:ea typeface="Arial"/>
                <a:cs typeface="Arial"/>
              </a:rPr>
              <a:t>التنفيذ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F52D5E-1763-40AE-B16C-B167CB38C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4371975"/>
            <a:ext cx="1200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defRPr sz="10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050" b="0" lang="ar-SA">
                <a:solidFill>
                  <a:srgbClr val="526779"/>
                </a:solidFill>
                <a:latin typeface="Arial"/>
                <a:ea typeface="Arial"/>
                <a:cs typeface="Arial"/>
              </a:rPr>
              <a:t>اختبار الوحدات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5F5680-26DD-4A3F-AC3A-AC1FAC3EA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4667250"/>
            <a:ext cx="1200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defRPr sz="10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050" b="0" lang="ar-SA">
                <a:solidFill>
                  <a:srgbClr val="526779"/>
                </a:solidFill>
                <a:latin typeface="Arial"/>
                <a:ea typeface="Arial"/>
                <a:cs typeface="Arial"/>
              </a:rPr>
              <a:t>اختبار المستخدمين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B91854-7C01-4931-84B1-5198B5DEF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89547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 rtl="1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الشهر ٣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999C6E-0578-4D9D-A805-3831B8E68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124200"/>
            <a:ext cx="1314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1">
                <a:solidFill>
                  <a:srgbClr val="1230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defRPr sz="1350" b="1">
                <a:solidFill>
                  <a:srgbClr val="12304B"/>
                </a:solidFill>
                <a:latin typeface="Arial"/>
                <a:ea typeface="Arial"/>
                <a:cs typeface="Arial"/>
              </a:defRPr>
            </a:pPr>
            <a:r>
              <a:rPr sz="1350" b="1" lang="ar-SA">
                <a:solidFill>
                  <a:srgbClr val="12304B"/>
                </a:solidFill>
                <a:latin typeface="Arial"/>
                <a:ea typeface="Arial"/>
                <a:cs typeface="Arial"/>
              </a:rPr>
              <a:t>النقل الانتقائي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0129FE-1802-4EAD-BC00-3A2ADEDA2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781425"/>
            <a:ext cx="1200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defRPr sz="10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050" b="0" lang="ar-SA">
                <a:solidFill>
                  <a:srgbClr val="526779"/>
                </a:solidFill>
                <a:latin typeface="Arial"/>
                <a:ea typeface="Arial"/>
                <a:cs typeface="Arial"/>
              </a:rPr>
              <a:t>التصميم والمواصفات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C3A906-EE61-47CA-BAE9-CBB17D4CB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076700"/>
            <a:ext cx="1200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defRPr sz="10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050" b="0" lang="ar-SA">
                <a:solidFill>
                  <a:srgbClr val="526779"/>
                </a:solidFill>
                <a:latin typeface="Arial"/>
                <a:ea typeface="Arial"/>
                <a:cs typeface="Arial"/>
              </a:rPr>
              <a:t>التنفيذ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61DD75-C42E-4D2C-B390-02531B277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371975"/>
            <a:ext cx="1200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defRPr sz="10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050" b="0" lang="ar-SA">
                <a:solidFill>
                  <a:srgbClr val="526779"/>
                </a:solidFill>
                <a:latin typeface="Arial"/>
                <a:ea typeface="Arial"/>
                <a:cs typeface="Arial"/>
              </a:rPr>
              <a:t>اختبار الوحدات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383E61F-02B3-44D9-A765-66457D9A6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667250"/>
            <a:ext cx="1200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defRPr sz="10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050" b="0" lang="ar-SA">
                <a:solidFill>
                  <a:srgbClr val="526779"/>
                </a:solidFill>
                <a:latin typeface="Arial"/>
                <a:ea typeface="Arial"/>
                <a:cs typeface="Arial"/>
              </a:rPr>
              <a:t>اختبار المستخدمين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2D0BA9A-626C-42F3-A24D-391A01E1B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189547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 rtl="1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الشهر ٤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43B5E8F-1912-4691-99BE-A3E5700CD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124200"/>
            <a:ext cx="1314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1">
                <a:solidFill>
                  <a:srgbClr val="1230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defRPr sz="1350" b="1">
                <a:solidFill>
                  <a:srgbClr val="12304B"/>
                </a:solidFill>
                <a:latin typeface="Arial"/>
                <a:ea typeface="Arial"/>
                <a:cs typeface="Arial"/>
              </a:defRPr>
            </a:pPr>
            <a:r>
              <a:rPr sz="1350" b="1" lang="ar-SA">
                <a:solidFill>
                  <a:srgbClr val="12304B"/>
                </a:solidFill>
                <a:latin typeface="Arial"/>
                <a:ea typeface="Arial"/>
                <a:cs typeface="Arial"/>
              </a:rPr>
              <a:t>الاختبارات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17FCD72-621F-470F-A281-2B6BFCD2D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781425"/>
            <a:ext cx="1200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defRPr sz="10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050" b="0" lang="ar-SA">
                <a:solidFill>
                  <a:srgbClr val="526779"/>
                </a:solidFill>
                <a:latin typeface="Arial"/>
                <a:ea typeface="Arial"/>
                <a:cs typeface="Arial"/>
              </a:rPr>
              <a:t>اختبار النظام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5348C74-7F89-4DBA-A2A7-95E71D960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076700"/>
            <a:ext cx="1200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defRPr sz="10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050" b="0" lang="ar-SA">
                <a:solidFill>
                  <a:srgbClr val="526779"/>
                </a:solidFill>
                <a:latin typeface="Arial"/>
                <a:ea typeface="Arial"/>
                <a:cs typeface="Arial"/>
              </a:rPr>
              <a:t>اختبار المجموعة البؤرية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F8EEB6B-7217-4AB9-B0CC-15FE9FB5A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371975"/>
            <a:ext cx="1200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defRPr sz="10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050" b="0" lang="ar-SA">
                <a:solidFill>
                  <a:srgbClr val="526779"/>
                </a:solidFill>
                <a:latin typeface="Arial"/>
                <a:ea typeface="Arial"/>
                <a:cs typeface="Arial"/>
              </a:rPr>
              <a:t>اختبار الأحمال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DB60396-034F-4A71-8D0E-9157EB698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667250"/>
            <a:ext cx="1200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defRPr sz="10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050" b="0" lang="ar-SA">
                <a:solidFill>
                  <a:srgbClr val="526779"/>
                </a:solidFill>
                <a:latin typeface="Arial"/>
                <a:ea typeface="Arial"/>
                <a:cs typeface="Arial"/>
              </a:rPr>
              <a:t>اختبار حجم البيانات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7949397-EA96-4032-A3FA-E82600F51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89547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 rtl="1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الشهر ٥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06C3CBB-0C9A-444A-AE84-6B3A199E2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3124200"/>
            <a:ext cx="1314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1">
                <a:solidFill>
                  <a:srgbClr val="1230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defRPr sz="1350" b="1">
                <a:solidFill>
                  <a:srgbClr val="12304B"/>
                </a:solidFill>
                <a:latin typeface="Arial"/>
                <a:ea typeface="Arial"/>
                <a:cs typeface="Arial"/>
              </a:defRPr>
            </a:pPr>
            <a:r>
              <a:rPr sz="1350" b="1" lang="ar-SA">
                <a:solidFill>
                  <a:srgbClr val="12304B"/>
                </a:solidFill>
                <a:latin typeface="Arial"/>
                <a:ea typeface="Arial"/>
                <a:cs typeface="Arial"/>
              </a:rPr>
              <a:t>التحسينات ومعالجة</a:t>
            </a:r>
          </a:p>
          <a:p xmlns:a="http://schemas.openxmlformats.org/drawingml/2006/main">
            <a:pPr algn="r" rtl="1">
              <a:defRPr sz="1350" b="1">
                <a:solidFill>
                  <a:srgbClr val="12304B"/>
                </a:solidFill>
                <a:latin typeface="Arial"/>
                <a:ea typeface="Arial"/>
                <a:cs typeface="Arial"/>
              </a:defRPr>
            </a:pPr>
            <a:r>
              <a:rPr sz="1350" b="1" lang="ar-SA">
                <a:solidFill>
                  <a:srgbClr val="12304B"/>
                </a:solidFill>
                <a:latin typeface="Arial"/>
                <a:ea typeface="Arial"/>
                <a:cs typeface="Arial"/>
              </a:rPr>
              <a:t>المشكلات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A256D8B-126D-42F8-B7C1-D54DF6CF2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781425"/>
            <a:ext cx="1200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defRPr sz="10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050" b="0" lang="ar-SA">
                <a:solidFill>
                  <a:srgbClr val="526779"/>
                </a:solidFill>
                <a:latin typeface="Arial"/>
                <a:ea typeface="Arial"/>
                <a:cs typeface="Arial"/>
              </a:rPr>
              <a:t>تحسينات واجهة المستخدم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16C851F-5782-4244-8167-313BB74B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076700"/>
            <a:ext cx="1200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defRPr sz="10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050" b="0" lang="ar-SA">
                <a:solidFill>
                  <a:srgbClr val="526779"/>
                </a:solidFill>
                <a:latin typeface="Arial"/>
                <a:ea typeface="Arial"/>
                <a:cs typeface="Arial"/>
              </a:rPr>
              <a:t>طلبات التغيير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7CFC61B-B5BE-4E4F-AAC2-5623CA647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371975"/>
            <a:ext cx="1200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defRPr sz="10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050" b="0" lang="ar-SA">
                <a:solidFill>
                  <a:srgbClr val="526779"/>
                </a:solidFill>
                <a:latin typeface="Arial"/>
                <a:ea typeface="Arial"/>
                <a:cs typeface="Arial"/>
              </a:rPr>
              <a:t>إصلاح الأخطاء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9D60B5A-D518-4C90-9671-51CADBDC4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189547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 rtl="1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الشهر ٦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3524722-459F-4705-B5C9-942A035E1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1314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1">
                <a:solidFill>
                  <a:srgbClr val="1230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defRPr sz="1350" b="1">
                <a:solidFill>
                  <a:srgbClr val="12304B"/>
                </a:solidFill>
                <a:latin typeface="Arial"/>
                <a:ea typeface="Arial"/>
                <a:cs typeface="Arial"/>
              </a:defRPr>
            </a:pPr>
            <a:r>
              <a:rPr sz="1350" b="1" lang="ar-SA">
                <a:solidFill>
                  <a:srgbClr val="12304B"/>
                </a:solidFill>
                <a:latin typeface="Arial"/>
                <a:ea typeface="Arial"/>
                <a:cs typeface="Arial"/>
              </a:rPr>
              <a:t>التوثيق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B6D696F-F41C-44AF-AE40-9CDF0366E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781425"/>
            <a:ext cx="1200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defRPr sz="10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050" b="0" lang="ar-SA">
                <a:solidFill>
                  <a:srgbClr val="526779"/>
                </a:solidFill>
                <a:latin typeface="Arial"/>
                <a:ea typeface="Arial"/>
                <a:cs typeface="Arial"/>
              </a:rPr>
              <a:t>دليل المستخدم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1C5F54F-A0CD-405E-9D9A-D054BF5BF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076700"/>
            <a:ext cx="1200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defRPr sz="10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050" b="0" lang="ar-SA">
                <a:solidFill>
                  <a:srgbClr val="526779"/>
                </a:solidFill>
                <a:latin typeface="Arial"/>
                <a:ea typeface="Arial"/>
                <a:cs typeface="Arial"/>
              </a:rPr>
              <a:t>أدلة المسؤولين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F4202E5-26DC-4097-8BA1-C1C2FEE3A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371975"/>
            <a:ext cx="1200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defRPr sz="10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050" b="0" lang="ar-SA">
                <a:solidFill>
                  <a:srgbClr val="526779"/>
                </a:solidFill>
                <a:latin typeface="Arial"/>
                <a:ea typeface="Arial"/>
                <a:cs typeface="Arial"/>
              </a:rPr>
              <a:t>توثيق النظام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3A6A6B7-F873-4D36-8FE1-4A55927B5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667250"/>
            <a:ext cx="1200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defRPr sz="10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050" b="0" lang="ar-SA">
                <a:solidFill>
                  <a:srgbClr val="526779"/>
                </a:solidFill>
                <a:latin typeface="Arial"/>
                <a:ea typeface="Arial"/>
                <a:cs typeface="Arial"/>
              </a:rPr>
              <a:t>توثيق العمليات التشغيلية</a:t>
            </a:r>
          </a:p>
        </p:txBody>
      </p:sp>
    </p:spTree>
    <p:extLst>
      <p:ext uri="{BB962C8B-B14F-4D97-AF65-F5344CB8AC3E}">
        <p14:creationId xmlns:p14="http://schemas.microsoft.com/office/powerpoint/2010/main" val="10527295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2026-10-15T05:03:10.6720000Z</dcterms:created>
  <dcterms:modified xsi:type="dcterms:W3CDTF">2026-10-15T05:03:10.6720000Z</dcterms:modified>
</coreProperties>
</file>